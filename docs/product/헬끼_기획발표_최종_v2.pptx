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cst.go.kr/site/s_notice/press/pressView.jsp?pSeq=22201" TargetMode="External"/><Relationship Id="rId3" Type="http://schemas.openxmlformats.org/officeDocument/2006/relationships/hyperlink" Target="https://acsm.org/education-resources/trending-topics-resources/acsm-fitness-trends/" TargetMode="External"/><Relationship Id="rId4" Type="http://schemas.openxmlformats.org/officeDocument/2006/relationships/hyperlink" Target="https://www.who.int/news-room/fact-sheets/detail/physical-activit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818120" y="0"/>
            <a:ext cx="4373849" cy="6858000"/>
          </a:xfrm>
          <a:prstGeom prst="rect">
            <a:avLst/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spc="11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HELKKI · 기획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98448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오늘의 조건에 맞춰</a:t>
            </a:r>
          </a:p>
          <a:p>
            <a:pPr algn="l">
              <a:lnSpc>
                <a:spcPct val="120000"/>
              </a:lnSpc>
            </a:pPr>
            <a:r>
              <a:rPr sz="45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이어지는 운동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63931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목표는 유지하고 부담은 조정하는</a:t>
            </a:r>
          </a:p>
          <a:p>
            <a:pPr algn="l">
              <a:lnSpc>
                <a:spcPct val="145000"/>
              </a:lnSpc>
            </a:pPr>
            <a:r>
              <a:rPr sz="16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운동 입문자·복귀자용 지속 지원 서비스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5961888"/>
            <a:ext cx="5669280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6126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spc="4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SKN30기 5팀   박세빈 · 채동현 · 김범중 · 장규원</a:t>
            </a:r>
          </a:p>
        </p:txBody>
      </p:sp>
      <p:sp>
        <p:nvSpPr>
          <p:cNvPr id="11" name="Oval 10"/>
          <p:cNvSpPr/>
          <p:nvPr/>
        </p:nvSpPr>
        <p:spPr>
          <a:xfrm>
            <a:off x="9015984" y="786384"/>
            <a:ext cx="1389888" cy="1389888"/>
          </a:xfrm>
          <a:prstGeom prst="ellipse">
            <a:avLst/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49529" y="585216"/>
            <a:ext cx="1722797" cy="649110"/>
          </a:xfrm>
          <a:custGeom>
            <a:avLst/>
            <a:gdLst/>
            <a:ahLst/>
            <a:cxnLst/>
            <a:rect l="l" t="t" r="r" b="b"/>
            <a:pathLst>
              <a:path w="1722797" h="649110">
                <a:moveTo>
                  <a:pt x="0" y="649110"/>
                </a:moveTo>
                <a:lnTo>
                  <a:pt x="26418" y="570806"/>
                </a:lnTo>
                <a:lnTo>
                  <a:pt x="59936" y="495269"/>
                </a:lnTo>
                <a:lnTo>
                  <a:pt x="100271" y="423141"/>
                </a:lnTo>
                <a:lnTo>
                  <a:pt x="147078" y="355035"/>
                </a:lnTo>
                <a:lnTo>
                  <a:pt x="199961" y="291531"/>
                </a:lnTo>
                <a:lnTo>
                  <a:pt x="258469" y="233169"/>
                </a:lnTo>
                <a:lnTo>
                  <a:pt x="322105" y="180445"/>
                </a:lnTo>
                <a:lnTo>
                  <a:pt x="390327" y="133807"/>
                </a:lnTo>
                <a:lnTo>
                  <a:pt x="462555" y="93652"/>
                </a:lnTo>
                <a:lnTo>
                  <a:pt x="538176" y="60322"/>
                </a:lnTo>
                <a:lnTo>
                  <a:pt x="616545" y="34100"/>
                </a:lnTo>
                <a:lnTo>
                  <a:pt x="696997" y="15209"/>
                </a:lnTo>
                <a:lnTo>
                  <a:pt x="778847" y="3810"/>
                </a:lnTo>
                <a:lnTo>
                  <a:pt x="861399" y="0"/>
                </a:lnTo>
                <a:lnTo>
                  <a:pt x="943950" y="3810"/>
                </a:lnTo>
                <a:lnTo>
                  <a:pt x="1025800" y="15209"/>
                </a:lnTo>
                <a:lnTo>
                  <a:pt x="1106252" y="34100"/>
                </a:lnTo>
                <a:lnTo>
                  <a:pt x="1184621" y="60322"/>
                </a:lnTo>
                <a:lnTo>
                  <a:pt x="1260242" y="93652"/>
                </a:lnTo>
                <a:lnTo>
                  <a:pt x="1332470" y="133807"/>
                </a:lnTo>
                <a:lnTo>
                  <a:pt x="1400692" y="180445"/>
                </a:lnTo>
                <a:lnTo>
                  <a:pt x="1464328" y="233169"/>
                </a:lnTo>
                <a:lnTo>
                  <a:pt x="1522836" y="291531"/>
                </a:lnTo>
                <a:lnTo>
                  <a:pt x="1575719" y="355035"/>
                </a:lnTo>
                <a:lnTo>
                  <a:pt x="1622526" y="423141"/>
                </a:lnTo>
                <a:lnTo>
                  <a:pt x="1662861" y="495269"/>
                </a:lnTo>
                <a:lnTo>
                  <a:pt x="1696379" y="570806"/>
                </a:lnTo>
                <a:lnTo>
                  <a:pt x="1722797" y="649110"/>
                </a:lnTo>
              </a:path>
            </a:pathLst>
          </a:custGeom>
          <a:noFill/>
          <a:ln w="38100">
            <a:solidFill>
              <a:srgbClr val="3E9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90093" y="1174890"/>
            <a:ext cx="118872" cy="11887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2890" y="1174890"/>
            <a:ext cx="118872" cy="11887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253728" y="1252728"/>
            <a:ext cx="914400" cy="438912"/>
          </a:xfrm>
          <a:custGeom>
            <a:avLst/>
            <a:gdLst/>
            <a:ahLst/>
            <a:cxnLst/>
            <a:rect l="l" t="t" r="r" b="b"/>
            <a:pathLst>
              <a:path w="914400" h="438912">
                <a:moveTo>
                  <a:pt x="0" y="228600"/>
                </a:moveTo>
                <a:lnTo>
                  <a:pt x="228600" y="228600"/>
                </a:lnTo>
                <a:lnTo>
                  <a:pt x="329183" y="0"/>
                </a:lnTo>
                <a:lnTo>
                  <a:pt x="457200" y="438912"/>
                </a:lnTo>
                <a:lnTo>
                  <a:pt x="566927" y="91440"/>
                </a:lnTo>
                <a:lnTo>
                  <a:pt x="667512" y="228600"/>
                </a:lnTo>
                <a:lnTo>
                  <a:pt x="914400" y="228600"/>
                </a:lnTo>
              </a:path>
            </a:pathLst>
          </a:custGeom>
          <a:noFill/>
          <a:ln w="34925">
            <a:solidFill>
              <a:srgbClr val="227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18903" y="2231136"/>
            <a:ext cx="384048" cy="86868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96043" y="2162556"/>
            <a:ext cx="68580" cy="224028"/>
          </a:xfrm>
          <a:prstGeom prst="roundRect">
            <a:avLst>
              <a:gd name="adj" fmla="val 50000"/>
            </a:avLst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48087" y="2162556"/>
            <a:ext cx="68580" cy="224028"/>
          </a:xfrm>
          <a:prstGeom prst="roundRect">
            <a:avLst>
              <a:gd name="adj" fmla="val 50000"/>
            </a:avLst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30768" y="2487168"/>
            <a:ext cx="2560320" cy="3401568"/>
          </a:xfrm>
          <a:prstGeom prst="roundRect">
            <a:avLst>
              <a:gd name="adj" fmla="val 7857"/>
            </a:avLst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30768" y="27614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1" spc="20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34272" y="3419856"/>
            <a:ext cx="0" cy="1975104"/>
          </a:xfrm>
          <a:prstGeom prst="line">
            <a:avLst/>
          </a:prstGeom>
          <a:ln w="19050">
            <a:solidFill>
              <a:srgbClr val="8FC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963406" y="3348990"/>
            <a:ext cx="141732" cy="141732"/>
          </a:xfrm>
          <a:prstGeom prst="ellipse">
            <a:avLst/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30098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spc="60">
                <a:solidFill>
                  <a:srgbClr val="0F4A40"/>
                </a:solidFill>
                <a:latin typeface="맑은 고딕"/>
                <a:ea typeface="맑은 고딕"/>
                <a:cs typeface="맑은 고딕"/>
              </a:rPr>
              <a:t>CHECK</a:t>
            </a:r>
          </a:p>
        </p:txBody>
      </p:sp>
      <p:sp>
        <p:nvSpPr>
          <p:cNvPr id="24" name="Oval 23"/>
          <p:cNvSpPr/>
          <p:nvPr/>
        </p:nvSpPr>
        <p:spPr>
          <a:xfrm>
            <a:off x="8963406" y="4007358"/>
            <a:ext cx="141732" cy="141732"/>
          </a:xfrm>
          <a:prstGeom prst="ellipse">
            <a:avLst/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95935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spc="60">
                <a:solidFill>
                  <a:srgbClr val="0F4A40"/>
                </a:solidFill>
                <a:latin typeface="맑은 고딕"/>
                <a:ea typeface="맑은 고딕"/>
                <a:cs typeface="맑은 고딕"/>
              </a:rPr>
              <a:t>ADJUST</a:t>
            </a:r>
          </a:p>
        </p:txBody>
      </p:sp>
      <p:sp>
        <p:nvSpPr>
          <p:cNvPr id="26" name="Oval 25"/>
          <p:cNvSpPr/>
          <p:nvPr/>
        </p:nvSpPr>
        <p:spPr>
          <a:xfrm>
            <a:off x="8963406" y="4665726"/>
            <a:ext cx="141732" cy="141732"/>
          </a:xfrm>
          <a:prstGeom prst="ellipse">
            <a:avLst/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61772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spc="60">
                <a:solidFill>
                  <a:srgbClr val="0F4A40"/>
                </a:solidFill>
                <a:latin typeface="맑은 고딕"/>
                <a:ea typeface="맑은 고딕"/>
                <a:cs typeface="맑은 고딕"/>
              </a:rPr>
              <a:t>DO</a:t>
            </a:r>
          </a:p>
        </p:txBody>
      </p:sp>
      <p:sp>
        <p:nvSpPr>
          <p:cNvPr id="28" name="Oval 27"/>
          <p:cNvSpPr/>
          <p:nvPr/>
        </p:nvSpPr>
        <p:spPr>
          <a:xfrm>
            <a:off x="8963406" y="5324094"/>
            <a:ext cx="141732" cy="141732"/>
          </a:xfrm>
          <a:prstGeom prst="ellipse">
            <a:avLst/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527608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spc="60">
                <a:solidFill>
                  <a:srgbClr val="0F4A40"/>
                </a:solidFill>
                <a:latin typeface="맑은 고딕"/>
                <a:ea typeface="맑은 고딕"/>
                <a:cs typeface="맑은 고딕"/>
              </a:rPr>
              <a:t>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01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운동 지속 실패의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627632"/>
            <a:ext cx="3484869" cy="1298448"/>
          </a:xfrm>
          <a:prstGeom prst="roundRect">
            <a:avLst>
              <a:gd name="adj" fmla="val 11267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8992" y="1901952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84.8%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계획 실패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549" y="1627632"/>
            <a:ext cx="3484869" cy="1298448"/>
          </a:xfrm>
          <a:prstGeom prst="roundRect">
            <a:avLst>
              <a:gd name="adj" fmla="val 11267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19309" y="1901952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75.0%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9309" y="2377440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어려워지면 포기·미룸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3867" y="1627632"/>
            <a:ext cx="3484869" cy="1298448"/>
          </a:xfrm>
          <a:prstGeom prst="roundRect">
            <a:avLst>
              <a:gd name="adj" fmla="val 11267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59627" y="1901952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50.0%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9627" y="2377440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건너뜀 이후 복귀 어려움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5092" y="3328415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5724" y="3328415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당일 조건 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6596" y="3328415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중단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5092" y="3675887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45092" y="3675887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목표 · 루틴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15724" y="3675887"/>
            <a:ext cx="4160520" cy="960120"/>
          </a:xfrm>
          <a:prstGeom prst="roundRect">
            <a:avLst>
              <a:gd name="adj" fmla="val 13333"/>
            </a:avLst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015724" y="3675887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50" b="0">
                <a:solidFill>
                  <a:srgbClr val="0F4A40"/>
                </a:solidFill>
                <a:latin typeface="맑은 고딕"/>
                <a:ea typeface="맑은 고딕"/>
                <a:cs typeface="맑은 고딕"/>
              </a:rPr>
              <a:t>피로 · 수면 · 일정 · 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06596" y="3675887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537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06596" y="3675887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포기 · 미룸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5372" y="396849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6244" y="396849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285232"/>
            <a:ext cx="107655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핵심 문제</a:t>
            </a:r>
            <a:r>
              <a:rPr sz="16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70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계획 실패 순간의 재조정 부재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자체 설문 n=112 · 행동 n=108 · 복귀 n=106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02 · 수요 조사 /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핵심 타깃의 규모</a:t>
            </a:r>
          </a:p>
        </p:txBody>
      </p:sp>
      <p:sp>
        <p:nvSpPr>
          <p:cNvPr id="4" name="Oval 3"/>
          <p:cNvSpPr/>
          <p:nvPr/>
        </p:nvSpPr>
        <p:spPr>
          <a:xfrm>
            <a:off x="3175253" y="1904238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81236" y="1920449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582147" y="1968683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73039" y="2047753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49212" y="2155712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06326" y="2289901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40515" y="2447015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8474" y="2623188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27544" y="2814080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75778" y="3014991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91990" y="3220974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75778" y="3426956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27544" y="3627867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48474" y="3818759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40515" y="3994932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6326" y="4152046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49212" y="4286235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73039" y="4394194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82147" y="4473264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81236" y="4521498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75253" y="4537710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69271" y="4521498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68360" y="4473264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77468" y="4394194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01295" y="4286235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44181" y="4152046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9992" y="3994932"/>
            <a:ext cx="141732" cy="141732"/>
          </a:xfrm>
          <a:prstGeom prst="ellips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11177" y="3827903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32107" y="3637011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83873" y="3436100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67662" y="3230118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83873" y="3024135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932107" y="2823224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011177" y="2632332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19136" y="2456159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53325" y="2299045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10439" y="2164856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86612" y="2056897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77504" y="1977827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78415" y="1929593"/>
            <a:ext cx="123444" cy="123444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980944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67.0%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4864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불규칙 · 중단 · 비운동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1737360"/>
            <a:ext cx="4773168" cy="3246120"/>
          </a:xfrm>
          <a:prstGeom prst="roundRect">
            <a:avLst>
              <a:gd name="adj" fmla="val 5633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46520" y="2084831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5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핵심 타깃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523744"/>
            <a:ext cx="38587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0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운동을 시작했지만</a:t>
            </a:r>
          </a:p>
          <a:p>
            <a:pPr algn="l">
              <a:lnSpc>
                <a:spcPct val="138000"/>
              </a:lnSpc>
            </a:pPr>
            <a:r>
              <a:rPr sz="20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꾸준히 이어가기 어려운 사용자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46520" y="3822191"/>
            <a:ext cx="3858768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46520" y="4133087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92.0%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279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계획 실패 경험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413248"/>
            <a:ext cx="107655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타깃 과제</a:t>
            </a:r>
            <a:r>
              <a:rPr sz="16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70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당일 조정 + 중단 후 복귀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자체 설문 n=112 · 2026.08.10–11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02 · 수요 조사 /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운동 중단 원인과 대응 행동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주요 중단 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385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귀찮음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96312" y="2011680"/>
            <a:ext cx="4206240" cy="192024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6312" y="2011680"/>
            <a:ext cx="3617366" cy="192024"/>
          </a:xfrm>
          <a:prstGeom prst="roundRect">
            <a:avLst>
              <a:gd name="adj" fmla="val 50000"/>
            </a:avLst>
          </a:prstGeom>
          <a:solidFill>
            <a:srgbClr val="537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5054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피로·수면 부족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2578608"/>
            <a:ext cx="4206240" cy="192024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96312" y="2578608"/>
            <a:ext cx="2355494" cy="192024"/>
          </a:xfrm>
          <a:prstGeom prst="roundRect">
            <a:avLst>
              <a:gd name="adj" fmla="val 50000"/>
            </a:avLst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07238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일정 변화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3145536"/>
            <a:ext cx="4206240" cy="192024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96312" y="3145536"/>
            <a:ext cx="2145182" cy="192024"/>
          </a:xfrm>
          <a:prstGeom prst="roundRect">
            <a:avLst>
              <a:gd name="adj" fmla="val 50000"/>
            </a:avLst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4041648"/>
            <a:ext cx="5989320" cy="1152144"/>
          </a:xfrm>
          <a:prstGeom prst="roundRect">
            <a:avLst>
              <a:gd name="adj" fmla="val 14285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24712" y="4041648"/>
            <a:ext cx="1737360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59.3%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4041648"/>
            <a:ext cx="3474720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피로·일정·시간·컨디션 등 상황 의존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57276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계획이 어려워진 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9168" y="1956816"/>
            <a:ext cx="4419569" cy="969264"/>
          </a:xfrm>
          <a:prstGeom prst="roundRect">
            <a:avLst>
              <a:gd name="adj" fmla="val 15094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43216" y="2194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75.0%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304288"/>
            <a:ext cx="222500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포기 또는 미룸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9168" y="3072384"/>
            <a:ext cx="4419569" cy="969264"/>
          </a:xfrm>
          <a:prstGeom prst="roundRect">
            <a:avLst>
              <a:gd name="adj" fmla="val 15094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43216" y="331012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24.1%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419856"/>
            <a:ext cx="222500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스스로 루틴 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3159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spc="4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기회 영역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4626864"/>
            <a:ext cx="441956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포기 전에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실행 가능한 대안을 제시한다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자체 설문 · 유효 응답 n=108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02 · 가설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핵심 기능 수요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910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개인 맞춤 루틴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30752" y="1664208"/>
            <a:ext cx="6787865" cy="201168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30752" y="1664208"/>
            <a:ext cx="4303506" cy="201168"/>
          </a:xfrm>
          <a:prstGeom prst="roundRect">
            <a:avLst>
              <a:gd name="adj" fmla="val 50000"/>
            </a:avLst>
          </a:prstGeom>
          <a:solidFill>
            <a:srgbClr val="537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4337" y="15910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63.4%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762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당일 루틴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2249424"/>
            <a:ext cx="6787865" cy="201168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30752" y="2249424"/>
            <a:ext cx="3875871" cy="201168"/>
          </a:xfrm>
          <a:prstGeom prst="roundRect">
            <a:avLst>
              <a:gd name="adj" fmla="val 50000"/>
            </a:avLst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4337" y="21762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57.1%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614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시간 부족 시 자동 변경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0752" y="2834640"/>
            <a:ext cx="6787865" cy="201168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30752" y="2834640"/>
            <a:ext cx="2728721" cy="201168"/>
          </a:xfrm>
          <a:prstGeom prst="roundRect">
            <a:avLst>
              <a:gd name="adj" fmla="val 50000"/>
            </a:avLst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4337" y="2761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40.2%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57600"/>
            <a:ext cx="3484869" cy="1325880"/>
          </a:xfrm>
          <a:prstGeom prst="roundRect">
            <a:avLst>
              <a:gd name="adj" fmla="val 11034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78992" y="3931920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79.5%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434840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당일 AI 조정 유용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3549" y="3657600"/>
            <a:ext cx="3484869" cy="1325880"/>
          </a:xfrm>
          <a:prstGeom prst="roundRect">
            <a:avLst>
              <a:gd name="adj" fmla="val 11034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19309" y="3931920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78.6%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9309" y="4434840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변경 이유 설명 중요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3867" y="3657600"/>
            <a:ext cx="3484869" cy="1325880"/>
          </a:xfrm>
          <a:prstGeom prst="roundRect">
            <a:avLst>
              <a:gd name="adj" fmla="val 11034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59627" y="3931920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83.0%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9627" y="4434840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주간 리포트 의향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376672"/>
            <a:ext cx="107655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검증 결과</a:t>
            </a:r>
            <a:r>
              <a:rPr sz="16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70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생성 → 당일 조정 → 설명 → 학습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자체 설문 n=112 · 기능 선호 복수응답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03 · 시장 / 환경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기존 서비스 대비 차별성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1076550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핵심 차별점</a:t>
            </a:r>
            <a:r>
              <a:rPr sz="13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3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운동 추천이 아니라 실패 순간을 운영하는 서비스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91056"/>
            <a:ext cx="3484869" cy="1389888"/>
          </a:xfrm>
          <a:prstGeom prst="roundRect">
            <a:avLst>
              <a:gd name="adj" fmla="val 11842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535170" y="1847088"/>
            <a:ext cx="384048" cy="384048"/>
          </a:xfrm>
          <a:prstGeom prst="roundRect">
            <a:avLst>
              <a:gd name="adj" fmla="val 23809"/>
            </a:avLst>
          </a:prstGeom>
          <a:noFill/>
          <a:ln w="15875">
            <a:solidFill>
              <a:srgbClr val="3E9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 rot="5400000">
            <a:off x="1667758" y="1961388"/>
            <a:ext cx="141732" cy="160020"/>
          </a:xfrm>
          <a:prstGeom prst="triangle">
            <a:avLst/>
          </a:prstGeom>
          <a:solidFill>
            <a:srgbClr val="3E9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2098" y="1865376"/>
            <a:ext cx="15483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콘텐츠 추천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50592"/>
            <a:ext cx="293622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운동을 더 많이 보여주는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549" y="1591056"/>
            <a:ext cx="3484869" cy="1389888"/>
          </a:xfrm>
          <a:prstGeom prst="roundRect">
            <a:avLst>
              <a:gd name="adj" fmla="val 11842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296138" y="1847088"/>
            <a:ext cx="384048" cy="384048"/>
          </a:xfrm>
          <a:prstGeom prst="roundRect">
            <a:avLst>
              <a:gd name="adj" fmla="val 23809"/>
            </a:avLst>
          </a:prstGeom>
          <a:noFill/>
          <a:ln w="15875">
            <a:solidFill>
              <a:srgbClr val="537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387578" y="1965960"/>
            <a:ext cx="201168" cy="32004"/>
          </a:xfrm>
          <a:prstGeom prst="roundRect">
            <a:avLst>
              <a:gd name="adj" fmla="val 50000"/>
            </a:avLst>
          </a:prstGeom>
          <a:solidFill>
            <a:srgbClr val="537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87578" y="2048255"/>
            <a:ext cx="146304" cy="32004"/>
          </a:xfrm>
          <a:prstGeom prst="roundRect">
            <a:avLst>
              <a:gd name="adj" fmla="val 50000"/>
            </a:avLst>
          </a:prstGeom>
          <a:solidFill>
            <a:srgbClr val="537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87578" y="2130552"/>
            <a:ext cx="91440" cy="32004"/>
          </a:xfrm>
          <a:prstGeom prst="roundRect">
            <a:avLst>
              <a:gd name="adj" fmla="val 50000"/>
            </a:avLst>
          </a:prstGeom>
          <a:solidFill>
            <a:srgbClr val="537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3066" y="1865376"/>
            <a:ext cx="13070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기록 중심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7869" y="2450592"/>
            <a:ext cx="293622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계획이 깨지는 순간의</a:t>
            </a:r>
          </a:p>
          <a:p>
            <a:pPr algn="ctr">
              <a:lnSpc>
                <a:spcPct val="132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조정 복귀 지원 부족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867" y="1591056"/>
            <a:ext cx="3484869" cy="1389888"/>
          </a:xfrm>
          <a:prstGeom prst="roundRect">
            <a:avLst>
              <a:gd name="adj" fmla="val 11842"/>
            </a:avLst>
          </a:prstGeom>
          <a:solidFill>
            <a:srgbClr val="EFF7F4"/>
          </a:solidFill>
          <a:ln w="9525">
            <a:solidFill>
              <a:srgbClr val="8FC8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045549" y="1837943"/>
            <a:ext cx="402336" cy="402336"/>
          </a:xfrm>
          <a:prstGeom prst="ellipse">
            <a:avLst/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109557" y="1965960"/>
            <a:ext cx="274320" cy="137160"/>
          </a:xfrm>
          <a:custGeom>
            <a:avLst/>
            <a:gdLst/>
            <a:ahLst/>
            <a:cxnLst/>
            <a:rect l="l" t="t" r="r" b="b"/>
            <a:pathLst>
              <a:path w="274320" h="137160">
                <a:moveTo>
                  <a:pt x="0" y="73152"/>
                </a:moveTo>
                <a:lnTo>
                  <a:pt x="82296" y="73152"/>
                </a:lnTo>
                <a:lnTo>
                  <a:pt x="118872" y="0"/>
                </a:lnTo>
                <a:lnTo>
                  <a:pt x="164592" y="137160"/>
                </a:lnTo>
                <a:lnTo>
                  <a:pt x="201168" y="36576"/>
                </a:lnTo>
                <a:lnTo>
                  <a:pt x="228600" y="73152"/>
                </a:lnTo>
                <a:lnTo>
                  <a:pt x="274320" y="73152"/>
                </a:lnTo>
              </a:path>
            </a:pathLst>
          </a:custGeom>
          <a:noFill/>
          <a:ln w="19050">
            <a:solidFill>
              <a:srgbClr val="227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1621" y="1865376"/>
            <a:ext cx="10706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helkki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187" y="2450592"/>
            <a:ext cx="293622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당일 상태 환경까지 반영해</a:t>
            </a:r>
          </a:p>
          <a:p>
            <a:pPr algn="ctr">
              <a:lnSpc>
                <a:spcPct val="132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실행 가능한 한 가지 루틴 제시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163824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기존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733" y="3163824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남는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0235" y="3163824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helkki의 차별성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474720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4301733" y="3584448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90235" y="3584448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3474720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오늘의 피로 일정·장비 미반영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1461" y="3474720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정적 프로필 기반 추천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9963" y="3474720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동적 개인화 + 목표 보존 조정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133087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2" name="Connector 31"/>
          <p:cNvCxnSpPr/>
          <p:nvPr/>
        </p:nvCxnSpPr>
        <p:spPr>
          <a:xfrm>
            <a:off x="4301733" y="4242816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0235" y="4242816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4133087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변경 이유 추적 어려움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1461" y="4133087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개인화 근거가 한 결과에 혼합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99963" y="4133087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실행안 + 변경 이유 복귀 지원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791456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8" name="Connector 37"/>
          <p:cNvCxnSpPr/>
          <p:nvPr/>
        </p:nvCxnSpPr>
        <p:spPr>
          <a:xfrm>
            <a:off x="4301733" y="4901184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90235" y="4901184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2960" y="479145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정적 개인화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1461" y="479145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완료량-활동량 중심 기록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9963" y="479145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미수행 원인 학습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541264"/>
            <a:ext cx="10765505" cy="548640"/>
          </a:xfrm>
          <a:prstGeom prst="roundRect">
            <a:avLst>
              <a:gd name="adj" fmla="val 23333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5541264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5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핵심 차별점</a:t>
            </a:r>
            <a:r>
              <a:rPr sz="145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50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운동 추천이 아니라 실패 순간을 운영하는 서비스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출처: 문화체육관광부(2025.01) · ACSM 2026 · WHO(2024)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04 · 멀티에이전트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멀티에이전트 선택 근거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44752"/>
            <a:ext cx="3484869" cy="1426464"/>
          </a:xfrm>
          <a:prstGeom prst="roundRect">
            <a:avLst>
              <a:gd name="adj" fmla="val 11538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1700784"/>
            <a:ext cx="271677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다중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04288"/>
            <a:ext cx="27167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진척, 회복, 안전, 실행 가능성</a:t>
            </a:r>
          </a:p>
          <a:p>
            <a:pPr algn="l">
              <a:lnSpc>
                <a:spcPct val="134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동시 판단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549" y="1444752"/>
            <a:ext cx="3484869" cy="1426464"/>
          </a:xfrm>
          <a:prstGeom prst="roundRect">
            <a:avLst>
              <a:gd name="adj" fmla="val 11538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37597" y="1700784"/>
            <a:ext cx="271677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충돌 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7597" y="2304288"/>
            <a:ext cx="27167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독립의견을 Coordinator가</a:t>
            </a:r>
          </a:p>
          <a:p>
            <a:pPr algn="l">
              <a:lnSpc>
                <a:spcPct val="134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명시적으로 조율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3867" y="1444752"/>
            <a:ext cx="3484869" cy="1426464"/>
          </a:xfrm>
          <a:prstGeom prst="roundRect">
            <a:avLst>
              <a:gd name="adj" fmla="val 11538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77915" y="1700784"/>
            <a:ext cx="271677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설명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7915" y="2304288"/>
            <a:ext cx="27167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변경이유와 적용근거를</a:t>
            </a:r>
          </a:p>
          <a:p>
            <a:pPr algn="l">
              <a:lnSpc>
                <a:spcPct val="134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사용자에게 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90672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싱글 에이전트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733" y="3090672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멀티에이전트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0235" y="3090672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서비스 차별성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01568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기준이 한 응답에 혼합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461" y="3401568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역할별 책임·정책 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963" y="3401568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판단 근거 추적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59936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405993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우선순위·충돌 처리 불명확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461" y="405993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Safety veto·조정 순서 명시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963" y="405993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안전과 목표 동시 보존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718304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4718304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결과 생성은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461" y="4718304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오늘 조건까지 동적 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963" y="4718304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실행안 + 변경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486400"/>
            <a:ext cx="107655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핵심 주장</a:t>
            </a: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5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싱글로 불가능해서가 아니라 책임 분리·충돌 조정·추적성에 더 적합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Agent 수 증가가 목적이 아님 · 독립 기준과 최종 결정에 실질적 영향이 있을 때만 역할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05 · 해결방안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멀티에이전트 기반 루틴 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16736"/>
            <a:ext cx="10765505" cy="786384"/>
          </a:xfrm>
          <a:prstGeom prst="roundRect">
            <a:avLst>
              <a:gd name="adj" fmla="val 20930"/>
            </a:avLst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16736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800" b="1">
                <a:solidFill>
                  <a:srgbClr val="0F4A40"/>
                </a:solidFill>
                <a:latin typeface="맑은 고딕"/>
                <a:ea typeface="맑은 고딕"/>
                <a:cs typeface="맑은 고딕"/>
              </a:rPr>
              <a:t>기존 목표를 오늘 실행 가능한 한 가지 루틴으로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" y="2395728"/>
            <a:ext cx="1956816" cy="1719072"/>
          </a:xfrm>
          <a:prstGeom prst="roundRect">
            <a:avLst>
              <a:gd name="adj" fmla="val 9574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4760" y="26517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760" y="3054096"/>
            <a:ext cx="14813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목표·주간 균형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6712" y="2395728"/>
            <a:ext cx="1956816" cy="1719072"/>
          </a:xfrm>
          <a:prstGeom prst="roundRect">
            <a:avLst>
              <a:gd name="adj" fmla="val 9574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14456" y="26517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4456" y="3054096"/>
            <a:ext cx="14813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피로·수면·복귀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6408" y="2395728"/>
            <a:ext cx="1956816" cy="1719072"/>
          </a:xfrm>
          <a:prstGeom prst="roundRect">
            <a:avLst>
              <a:gd name="adj" fmla="val 9574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54152" y="26517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4152" y="3054096"/>
            <a:ext cx="14813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불편감·안전 규칙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6104" y="2395728"/>
            <a:ext cx="2798064" cy="1719072"/>
          </a:xfrm>
          <a:prstGeom prst="roundRect">
            <a:avLst>
              <a:gd name="adj" fmla="val 9574"/>
            </a:avLst>
          </a:prstGeom>
          <a:solidFill>
            <a:srgbClr val="EFF7F4"/>
          </a:solidFill>
          <a:ln w="15875">
            <a:solidFill>
              <a:srgbClr val="3E9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93848" y="2651760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3848" y="3054096"/>
            <a:ext cx="232257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시간·장소·장비선호·기피·일정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4168" y="3054096"/>
            <a:ext cx="402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56504" y="2395728"/>
            <a:ext cx="1298448" cy="1719072"/>
          </a:xfrm>
          <a:prstGeom prst="roundRect">
            <a:avLst>
              <a:gd name="adj" fmla="val 12676"/>
            </a:avLst>
          </a:prstGeom>
          <a:solidFill>
            <a:srgbClr val="227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256504" y="2651760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50" b="1" spc="10">
                <a:solidFill>
                  <a:srgbClr val="DDEEE8"/>
                </a:solidFill>
                <a:latin typeface="맑은 고딕"/>
                <a:ea typeface="맑은 고딕"/>
                <a:cs typeface="맑은 고딕"/>
              </a:rPr>
              <a:t>COORDINATOR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6504" y="3054096"/>
            <a:ext cx="12984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최종안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3984"/>
            <a:ext cx="1076550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45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Feasibility</a:t>
            </a:r>
            <a:r>
              <a:rPr sz="145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45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다른 Agent의 후보를 오늘 실제로 수행 가능한 종류·순서·대체안으로 변환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084064"/>
            <a:ext cx="107655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spc="1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좋은 운동인가?  →  회복·안전 검증  →  오늘 이 환경에서 할 수 있는가?  →  최종 결정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프로젝트 문서: PROJECT_BRIEF · DOMAIN_RULES ·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06 · 수집 데이터 /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수집 데이터와 활용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54480"/>
            <a:ext cx="3484869" cy="1298448"/>
          </a:xfrm>
          <a:prstGeom prst="roundRect">
            <a:avLst>
              <a:gd name="adj" fmla="val 11267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78992" y="1828800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56개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04288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검토완료 운동 카탈로그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549" y="1554480"/>
            <a:ext cx="3484869" cy="1298448"/>
          </a:xfrm>
          <a:prstGeom prst="roundRect">
            <a:avLst>
              <a:gd name="adj" fmla="val 11267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19309" y="1828800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354건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9309" y="2304288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결정론적 안전 규칙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3867" y="1554480"/>
            <a:ext cx="3484869" cy="1298448"/>
          </a:xfrm>
          <a:prstGeom prst="roundRect">
            <a:avLst>
              <a:gd name="adj" fmla="val 11267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59627" y="1828800"/>
            <a:ext cx="275334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238건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9627" y="2304288"/>
            <a:ext cx="27533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목표 보존 대체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08960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수집 원천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733" y="3108960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수집 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0235" y="3108960"/>
            <a:ext cx="35885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 spc="3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서비스 활용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19856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4301733" y="3529584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90235" y="3529584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41985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국민체력100 · wger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1461" y="341985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영상 243개 · 운동 862개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9963" y="3419856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운동 후보 · 장비 · 장소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78224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4301733" y="4187952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90235" y="4187952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4078224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WHO · CDC · KDCA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461" y="4078224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FITT·강도 사실 14건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963" y="4078224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주간 운동량 · 강도 기준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736592"/>
            <a:ext cx="1076550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4301733" y="4846320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90235" y="4846320"/>
            <a:ext cx="0" cy="347472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4736592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Adult Compendium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1461" y="4736592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MVP 활동 20건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9963" y="4736592"/>
            <a:ext cx="336904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표준 MET 참고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41264"/>
            <a:ext cx="107655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활용 흐름</a:t>
            </a: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5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121건 검토 → 56개 채택 → 안전·대체 규칙 → Agent 후보 제한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DRAFT · AGENT_ONLY · 운영 추천용 아님 · 출처·라이선스·SHA-256 보존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07 · 핵심 타깃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수집 데이터 기반 MVP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7008"/>
            <a:ext cx="107655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운동 입문자·복귀자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계획을 세워도 조건 변화에 자주 멈추고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공백 이후 복귀 강도를 정하기 어려운 사용자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999232"/>
            <a:ext cx="4480560" cy="1810512"/>
          </a:xfrm>
          <a:prstGeom prst="roundRect">
            <a:avLst>
              <a:gd name="adj" fmla="val 10101"/>
            </a:avLst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15568" y="32735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5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서비스 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675887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22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못 한 날을</a:t>
            </a:r>
          </a:p>
          <a:p>
            <a:pPr algn="l">
              <a:lnSpc>
                <a:spcPct val="136000"/>
              </a:lnSpc>
            </a:pPr>
            <a:r>
              <a:rPr sz="22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다음 계획의 학습 신호로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62763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spc="3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핵심 기능 4가지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011680"/>
            <a:ext cx="5489417" cy="676656"/>
          </a:xfrm>
          <a:prstGeom prst="roundRect">
            <a:avLst>
              <a:gd name="adj" fmla="val 21621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73368" y="2011680"/>
            <a:ext cx="548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11680"/>
            <a:ext cx="4026377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개인 맞춤 기본 루틴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798064"/>
            <a:ext cx="5489417" cy="676656"/>
          </a:xfrm>
          <a:prstGeom prst="roundRect">
            <a:avLst>
              <a:gd name="adj" fmla="val 21621"/>
            </a:avLst>
          </a:prstGeom>
          <a:solidFill>
            <a:srgbClr val="E9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73368" y="2798064"/>
            <a:ext cx="548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98064"/>
            <a:ext cx="4026377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당일 상태 체크인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584448"/>
            <a:ext cx="5489417" cy="676656"/>
          </a:xfrm>
          <a:prstGeom prst="roundRect">
            <a:avLst>
              <a:gd name="adj" fmla="val 21621"/>
            </a:avLst>
          </a:prstGeom>
          <a:solidFill>
            <a:srgbClr val="E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73368" y="3584448"/>
            <a:ext cx="548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584448"/>
            <a:ext cx="4026377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목표 보존형 루틴 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4370832"/>
            <a:ext cx="5489417" cy="676656"/>
          </a:xfrm>
          <a:prstGeom prst="roundRect">
            <a:avLst>
              <a:gd name="adj" fmla="val 21621"/>
            </a:avLst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73368" y="4370832"/>
            <a:ext cx="548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370832"/>
            <a:ext cx="4026377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수행 피드백 · 주간 학습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340096"/>
            <a:ext cx="548941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150" b="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웨어러블은 선택 입력 · 수동 체크인 지원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설문 수요 + 카탈로그·안전·대체 데이터 기반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08 · 사용자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데이터가 연결되는 사용자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956816"/>
            <a:ext cx="1641850" cy="2084831"/>
          </a:xfrm>
          <a:prstGeom prst="roundRect">
            <a:avLst>
              <a:gd name="adj" fmla="val 11138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05256" y="220370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267712"/>
            <a:ext cx="4206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120293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온보딩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3639312"/>
            <a:ext cx="420624" cy="41148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5082" y="285292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7962" y="1956816"/>
            <a:ext cx="1641850" cy="2084831"/>
          </a:xfrm>
          <a:prstGeom prst="roundRect">
            <a:avLst>
              <a:gd name="adj" fmla="val 11138"/>
            </a:avLst>
          </a:prstGeom>
          <a:solidFill>
            <a:srgbClr val="EB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729986" y="220370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9986" y="2267712"/>
            <a:ext cx="4206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7418" y="2743200"/>
            <a:ext cx="120293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오늘 체크인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5706" y="3639312"/>
            <a:ext cx="420624" cy="41148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9813" y="285292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2693" y="1956816"/>
            <a:ext cx="1641850" cy="2084831"/>
          </a:xfrm>
          <a:prstGeom prst="roundRect">
            <a:avLst>
              <a:gd name="adj" fmla="val 11138"/>
            </a:avLst>
          </a:prstGeom>
          <a:solidFill>
            <a:srgbClr val="E8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554717" y="220370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4717" y="2267712"/>
            <a:ext cx="4206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149" y="2743200"/>
            <a:ext cx="120293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루틴 조정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0437" y="3639312"/>
            <a:ext cx="420624" cy="41148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4544" y="285292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424" y="1956816"/>
            <a:ext cx="1641850" cy="2084831"/>
          </a:xfrm>
          <a:prstGeom prst="roundRect">
            <a:avLst>
              <a:gd name="adj" fmla="val 11138"/>
            </a:avLst>
          </a:prstGeom>
          <a:solidFill>
            <a:srgbClr val="E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379448" y="220370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9448" y="2267712"/>
            <a:ext cx="4206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880" y="2743200"/>
            <a:ext cx="120293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운동 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5168" y="3639312"/>
            <a:ext cx="420624" cy="41148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29275" y="285292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2155" y="1956816"/>
            <a:ext cx="1641850" cy="2084831"/>
          </a:xfrm>
          <a:prstGeom prst="roundRect">
            <a:avLst>
              <a:gd name="adj" fmla="val 11138"/>
            </a:avLst>
          </a:prstGeom>
          <a:solidFill>
            <a:srgbClr val="E1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204179" y="220370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4179" y="2267712"/>
            <a:ext cx="4206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1611" y="2743200"/>
            <a:ext cx="120293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9899" y="3639312"/>
            <a:ext cx="420624" cy="41148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4006" y="285292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36886" y="1956816"/>
            <a:ext cx="1641850" cy="2084831"/>
          </a:xfrm>
          <a:prstGeom prst="roundRect">
            <a:avLst>
              <a:gd name="adj" fmla="val 11138"/>
            </a:avLst>
          </a:prstGeom>
          <a:solidFill>
            <a:srgbClr val="D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0028910" y="220370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28910" y="2267712"/>
            <a:ext cx="4206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6342" y="2743200"/>
            <a:ext cx="120293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주간 학습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74630" y="3639312"/>
            <a:ext cx="420624" cy="41148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754880"/>
            <a:ext cx="1076550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800" b="1" spc="2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계획  →  상태확인  →  추천  →  실행  →  학습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340096"/>
            <a:ext cx="107655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수행·미수행 데이터는 주간 학습과 다음 조정에 반영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09 · 기대효과 /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파일럿 기대효과와 검증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1076550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spc="40">
                <a:solidFill>
                  <a:srgbClr val="768785"/>
                </a:solidFill>
                <a:latin typeface="맑은 고딕"/>
                <a:ea typeface="맑은 고딕"/>
                <a:cs typeface="맑은 고딕"/>
              </a:rPr>
              <a:t>NorthStar</a:t>
            </a:r>
            <a:r>
              <a:rPr sz="14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·   </a:t>
            </a:r>
            <a:r>
              <a:rPr sz="150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계획이 흔들린 날의 운동 흐름 재진입률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304288"/>
            <a:ext cx="3484869" cy="1444752"/>
          </a:xfrm>
          <a:prstGeom prst="roundRect">
            <a:avLst>
              <a:gd name="adj" fmla="val 10126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33856" y="2578608"/>
            <a:ext cx="264362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+10%p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200399"/>
            <a:ext cx="26436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조정 후 수행률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549" y="2304288"/>
            <a:ext cx="3484869" cy="1444752"/>
          </a:xfrm>
          <a:prstGeom prst="roundRect">
            <a:avLst>
              <a:gd name="adj" fmla="val 10126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74173" y="2578608"/>
            <a:ext cx="264362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5377B0"/>
                </a:solidFill>
                <a:latin typeface="맑은 고딕"/>
                <a:ea typeface="맑은 고딕"/>
                <a:cs typeface="맑은 고딕"/>
              </a:rPr>
              <a:t>-10%p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4173" y="3200399"/>
            <a:ext cx="26436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포기·미룸비율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3867" y="2304288"/>
            <a:ext cx="3484869" cy="1444752"/>
          </a:xfrm>
          <a:prstGeom prst="roundRect">
            <a:avLst>
              <a:gd name="adj" fmla="val 10126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4491" y="2578608"/>
            <a:ext cx="264362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+15%p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4491" y="3200399"/>
            <a:ext cx="26436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7일내 복귀율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443984"/>
            <a:ext cx="10765505" cy="694944"/>
          </a:xfrm>
          <a:prstGeom prst="roundRect">
            <a:avLst>
              <a:gd name="adj" fmla="val 21052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444398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측정</a:t>
            </a:r>
            <a:r>
              <a:rPr sz="1500" b="0">
                <a:solidFill>
                  <a:srgbClr val="8FC8B9"/>
                </a:solidFill>
                <a:latin typeface="맑은 고딕"/>
                <a:ea typeface="맑은 고딕"/>
                <a:cs typeface="맑은 고딕"/>
              </a:rPr>
              <a:t>   |   </a:t>
            </a:r>
            <a:r>
              <a:rPr sz="15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4주 파일럿 · 핵심 타깃 층화 · 안전중단 별도 집계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※ 목표치는 검증 전 서비스 가설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10 ·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기획 타당성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91056"/>
            <a:ext cx="2581648" cy="1389888"/>
          </a:xfrm>
          <a:prstGeom prst="roundRect">
            <a:avLst>
              <a:gd name="adj" fmla="val 11842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0704" y="1847088"/>
            <a:ext cx="1886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5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267712"/>
            <a:ext cx="18867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계획과 현실의 충돌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1184" y="1591056"/>
            <a:ext cx="2581648" cy="1389888"/>
          </a:xfrm>
          <a:prstGeom prst="roundRect">
            <a:avLst>
              <a:gd name="adj" fmla="val 11842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88656" y="1847088"/>
            <a:ext cx="1886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5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8656" y="2267712"/>
            <a:ext cx="18867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75% 포기·미룸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9136" y="1591056"/>
            <a:ext cx="2581648" cy="1389888"/>
          </a:xfrm>
          <a:prstGeom prst="roundRect">
            <a:avLst>
              <a:gd name="adj" fmla="val 11842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6608" y="1847088"/>
            <a:ext cx="1886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5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608" y="2267712"/>
            <a:ext cx="18867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목표 보존형 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97089" y="1591056"/>
            <a:ext cx="2581648" cy="1389888"/>
          </a:xfrm>
          <a:prstGeom prst="roundRect">
            <a:avLst>
              <a:gd name="adj" fmla="val 11842"/>
            </a:avLst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44561" y="1847088"/>
            <a:ext cx="1886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50">
                <a:solidFill>
                  <a:srgbClr val="3E9C88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61" y="2267712"/>
            <a:ext cx="18867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지속·복귀 개선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0496" y="3401568"/>
            <a:ext cx="950976" cy="50292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749039"/>
            <a:ext cx="1076550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32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계획이 깨지는 순간을</a:t>
            </a:r>
          </a:p>
          <a:p>
            <a:pPr algn="ctr">
              <a:lnSpc>
                <a:spcPct val="132000"/>
              </a:lnSpc>
            </a:pPr>
            <a:r>
              <a:rPr sz="32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다시 이어지는 운동으로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76672"/>
            <a:ext cx="107655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1" spc="28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HELKKI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본편 약 10분 · 멀티에이전트 예상 질문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spc="70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데이터 출처와 해석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자체설문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spc="40">
                <a:solidFill>
                  <a:srgbClr val="475856"/>
                </a:solidFill>
                <a:latin typeface="맑은 고딕"/>
                <a:ea typeface="맑은 고딕"/>
                <a:cs typeface="맑은 고딕"/>
              </a:rPr>
              <a:t>n=112 · 2026.08.10–11 · 행동 n=108 · 복귀 n=106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249424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외부 근거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944368"/>
            <a:ext cx="50292" cy="457200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889504"/>
            <a:ext cx="105094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문화체육관광부, 2025년 국민생활체육조사 결과(2026.01.19)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182112"/>
            <a:ext cx="10509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u="none">
                <a:solidFill>
                  <a:srgbClr val="22796A"/>
                </a:solidFill>
                <a:latin typeface="맑은 고딕"/>
                <a:ea typeface="맑은 고딕"/>
                <a:cs typeface="맑은 고딕"/>
                <a:hlinkClick r:id="rId2"/>
              </a:rPr>
              <a:t>https://www.mcst.go.kr/site/s_notice/press/pressView.jsp?pSeq=22201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694176"/>
            <a:ext cx="50292" cy="457200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639312"/>
            <a:ext cx="105094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ACSM, 2026 Fitness Trends — Mobile Exercise Apps #4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931920"/>
            <a:ext cx="10509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u="none">
                <a:solidFill>
                  <a:srgbClr val="22796A"/>
                </a:solidFill>
                <a:latin typeface="맑은 고딕"/>
                <a:ea typeface="맑은 고딕"/>
                <a:cs typeface="맑은 고딕"/>
                <a:hlinkClick r:id="rId3"/>
              </a:rPr>
              <a:t>https://acsm.org/education-resources/trending-topics-resources/acsm-fitness-trends/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443983"/>
            <a:ext cx="50292" cy="457200"/>
          </a:xfrm>
          <a:prstGeom prst="roundRect">
            <a:avLst>
              <a:gd name="adj" fmla="val 50000"/>
            </a:avLst>
          </a:prstGeom>
          <a:solidFill>
            <a:srgbClr val="8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389120"/>
            <a:ext cx="105094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B2A28"/>
                </a:solidFill>
                <a:latin typeface="맑은 고딕"/>
                <a:ea typeface="맑은 고딕"/>
                <a:cs typeface="맑은 고딕"/>
              </a:rPr>
              <a:t>WHO, Physical activity fact sheet(2024) — 성인 31% 권장 활동량 미달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681728"/>
            <a:ext cx="10509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u="none">
                <a:solidFill>
                  <a:srgbClr val="22796A"/>
                </a:solidFill>
                <a:latin typeface="맑은 고딕"/>
                <a:ea typeface="맑은 고딕"/>
                <a:cs typeface="맑은 고딕"/>
                <a:hlinkClick r:id="rId4"/>
              </a:rPr>
              <a:t>https://www.who.int/news-room/fact-sheets/detail/physical-activity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230368"/>
            <a:ext cx="10765505" cy="603504"/>
          </a:xfrm>
          <a:prstGeom prst="roundRect">
            <a:avLst>
              <a:gd name="adj" fmla="val 21212"/>
            </a:avLst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5230368"/>
            <a:ext cx="1076550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250" b="1">
                <a:solidFill>
                  <a:srgbClr val="22796A"/>
                </a:solidFill>
                <a:latin typeface="맑은 고딕"/>
                <a:ea typeface="맑은 고딕"/>
                <a:cs typeface="맑은 고딕"/>
              </a:rPr>
              <a:t>사용 의향 ≠ 실제 지속 효과 · 멀티에이전트 우수성은 본 설문으로 검증하지 않는다.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6309360"/>
            <a:ext cx="10765505" cy="0"/>
          </a:xfrm>
          <a:prstGeom prst="line">
            <a:avLst/>
          </a:prstGeom>
          <a:ln w="9525">
            <a:solidFill>
              <a:srgbClr val="E2E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6391656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spc="2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출처 확인일: 2026.08.12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1457" y="6391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1AFAD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796A"/>
      </a:hlink>
      <a:folHlink>
        <a:srgbClr val="22796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HELKKI 기획 발표</dc:title>
  <dc:subject>오늘의 조건에 맞춰 이어지는 운동</dc:subject>
  <dc:creator>SKN30기 5팀 박세빈 · 채동현 · 김범중 · 장규원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